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ec2534148f4a6d" /><Relationship Type="http://schemas.openxmlformats.org/officeDocument/2006/relationships/extended-properties" Target="/docProps/app.xml" Id="R15ba9d1367604f4b" /><Relationship Type="http://schemas.openxmlformats.org/officeDocument/2006/relationships/officeDocument" Target="/ppt/presentation.xml" Id="Rea8b6bdf7fd44c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19b59baae542a5"/>
  </p:sldMasterIdLst>
  <p:notesMasterIdLst>
    <p:notesMasterId xmlns:r="http://schemas.openxmlformats.org/officeDocument/2006/relationships" r:id="R4a0892be0d8347e1"/>
  </p:notesMasterIdLst>
  <p:sldIdLst>
    <p:sldId xmlns:r="http://schemas.openxmlformats.org/officeDocument/2006/relationships" id="256" r:id="Re3e2556cbd274e98"/>
    <p:sldId xmlns:r="http://schemas.openxmlformats.org/officeDocument/2006/relationships" id="257" r:id="R06c9cc4da41b4fa3"/>
    <p:sldId xmlns:r="http://schemas.openxmlformats.org/officeDocument/2006/relationships" id="258" r:id="R15869e3fe6d34e9b"/>
    <p:sldId xmlns:r="http://schemas.openxmlformats.org/officeDocument/2006/relationships" id="259" r:id="R211aaf2c3f70438a"/>
    <p:sldId xmlns:r="http://schemas.openxmlformats.org/officeDocument/2006/relationships" id="260" r:id="Rda65392aab654eb2"/>
    <p:sldId xmlns:r="http://schemas.openxmlformats.org/officeDocument/2006/relationships" id="261" r:id="R29f3f57401534724"/>
    <p:sldId xmlns:r="http://schemas.openxmlformats.org/officeDocument/2006/relationships" id="262" r:id="Ra7513e42af6449c5"/>
    <p:sldId xmlns:r="http://schemas.openxmlformats.org/officeDocument/2006/relationships" id="263" r:id="R5e707cafd44844f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19b59baae542a5" /><Relationship Type="http://schemas.openxmlformats.org/officeDocument/2006/relationships/theme" Target="/ppt/theme/theme1.xml" Id="R2cc34e7265534239" /><Relationship Type="http://schemas.openxmlformats.org/officeDocument/2006/relationships/notesMaster" Target="/ppt/notesMasters/notesMaster1.xml" Id="R4a0892be0d8347e1" /><Relationship Type="http://schemas.openxmlformats.org/officeDocument/2006/relationships/presProps" Target="/ppt/presProps.xml" Id="R2aa48b4789ed4a23" /><Relationship Type="http://schemas.openxmlformats.org/officeDocument/2006/relationships/viewProps" Target="/ppt/viewProps.xml" Id="Reb28d8d25c7543c4" /><Relationship Type="http://schemas.openxmlformats.org/officeDocument/2006/relationships/tableStyles" Target="/ppt/tableStyles.xml" Id="R562e461563c6471a" /><Relationship Type="http://schemas.openxmlformats.org/officeDocument/2006/relationships/slide" Target="/ppt/slides/slide1.xml" Id="Re3e2556cbd274e98" /><Relationship Type="http://schemas.openxmlformats.org/officeDocument/2006/relationships/slide" Target="/ppt/slides/slide2.xml" Id="R06c9cc4da41b4fa3" /><Relationship Type="http://schemas.openxmlformats.org/officeDocument/2006/relationships/slide" Target="/ppt/slides/slide3.xml" Id="R15869e3fe6d34e9b" /><Relationship Type="http://schemas.openxmlformats.org/officeDocument/2006/relationships/slide" Target="/ppt/slides/slide4.xml" Id="R211aaf2c3f70438a" /><Relationship Type="http://schemas.openxmlformats.org/officeDocument/2006/relationships/slide" Target="/ppt/slides/slide5.xml" Id="Rda65392aab654eb2" /><Relationship Type="http://schemas.openxmlformats.org/officeDocument/2006/relationships/slide" Target="/ppt/slides/slide6.xml" Id="R29f3f57401534724" /><Relationship Type="http://schemas.openxmlformats.org/officeDocument/2006/relationships/slide" Target="/ppt/slides/slide7.xml" Id="Ra7513e42af6449c5" /><Relationship Type="http://schemas.openxmlformats.org/officeDocument/2006/relationships/slide" Target="/ppt/slides/slide8.xml" Id="R5e707cafd44844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bcae1a3fd8b45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38af750f6d431f" /><Relationship Type="http://schemas.openxmlformats.org/officeDocument/2006/relationships/notesMaster" Target="/ppt/notesMasters/notesMaster1.xml" Id="R34e9874b208a47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29315490cf4941" /><Relationship Type="http://schemas.openxmlformats.org/officeDocument/2006/relationships/notesMaster" Target="/ppt/notesMasters/notesMaster1.xml" Id="R9ccf9ec156ff42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c405ca9dcc466d" /><Relationship Type="http://schemas.openxmlformats.org/officeDocument/2006/relationships/notesMaster" Target="/ppt/notesMasters/notesMaster1.xml" Id="R39b587d694334a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0f127c98084829" /><Relationship Type="http://schemas.openxmlformats.org/officeDocument/2006/relationships/notesMaster" Target="/ppt/notesMasters/notesMaster1.xml" Id="Rf7a4384fa75341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b042a3f0124072" /><Relationship Type="http://schemas.openxmlformats.org/officeDocument/2006/relationships/notesMaster" Target="/ppt/notesMasters/notesMaster1.xml" Id="Ra43eafb74c5445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02717be95d483a" /><Relationship Type="http://schemas.openxmlformats.org/officeDocument/2006/relationships/notesMaster" Target="/ppt/notesMasters/notesMaster1.xml" Id="Rf78d6b202c0241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a42acee9bb4d12" /><Relationship Type="http://schemas.openxmlformats.org/officeDocument/2006/relationships/notesMaster" Target="/ppt/notesMasters/notesMaster1.xml" Id="R9f30b3f2926845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29ddf6b3004319" /><Relationship Type="http://schemas.openxmlformats.org/officeDocument/2006/relationships/notesMaster" Target="/ppt/notesMasters/notesMaster1.xml" Id="Rff0c31a4bfba48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f5b85acca745f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5a6cc49c2bc476d" /><Relationship Type="http://schemas.openxmlformats.org/officeDocument/2006/relationships/slideLayout" Target="/ppt/slideLayouts/slideLayout2.xml" Id="R760a41cde73a45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0a41cde73a45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3af8c8cdcc46f4" /><Relationship Type="http://schemas.openxmlformats.org/officeDocument/2006/relationships/notesSlide" Target="/ppt/notesSlides/notesSlide1.xml" Id="R71afa16f2def41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4c5ed28e12496d" /><Relationship Type="http://schemas.openxmlformats.org/officeDocument/2006/relationships/notesSlide" Target="/ppt/notesSlides/notesSlide2.xml" Id="Rf4ea502554374b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5b3742717e4ced" /><Relationship Type="http://schemas.openxmlformats.org/officeDocument/2006/relationships/notesSlide" Target="/ppt/notesSlides/notesSlide3.xml" Id="R336268e9ff1344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95ad3c8906423c" /><Relationship Type="http://schemas.openxmlformats.org/officeDocument/2006/relationships/notesSlide" Target="/ppt/notesSlides/notesSlide4.xml" Id="R479e15e7dec549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7090cbd10945ae" /><Relationship Type="http://schemas.openxmlformats.org/officeDocument/2006/relationships/notesSlide" Target="/ppt/notesSlides/notesSlide5.xml" Id="Rbc2f03dcbc4442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2b7a12d2f34013" /><Relationship Type="http://schemas.openxmlformats.org/officeDocument/2006/relationships/notesSlide" Target="/ppt/notesSlides/notesSlide6.xml" Id="R27dd868dd99740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8ecc56df6f4b7b" /><Relationship Type="http://schemas.openxmlformats.org/officeDocument/2006/relationships/notesSlide" Target="/ppt/notesSlides/notesSlide7.xml" Id="Ra60d3813ee6445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410a506d814b6d" /><Relationship Type="http://schemas.openxmlformats.org/officeDocument/2006/relationships/notesSlide" Target="/ppt/notesSlides/notesSlide8.xml" Id="R4fa2feb7da9e42b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4F1A74-7D8B-4E24-AE26-D68CA2E4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Product thesis-marker">
            <a:extLst xmlns:a="http://schemas.openxmlformats.org/drawingml/2006/main">
              <a:ext uri="{FF2B5EF4-FFF2-40B4-BE49-F238E27FC236}">
                <a16:creationId xmlns:a16="http://schemas.microsoft.com/office/drawing/2014/main" id="{19FB5FD7-A31F-4075-8086-16E67202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Product thesis-label">
            <a:extLst xmlns:a="http://schemas.openxmlformats.org/drawingml/2006/main">
              <a:ext uri="{FF2B5EF4-FFF2-40B4-BE49-F238E27FC236}">
                <a16:creationId xmlns:a16="http://schemas.microsoft.com/office/drawing/2014/main" id="{5235995F-941A-4983-B99A-77EAB425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67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D0C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6D0C5"/>
                </a:solidFill>
                <a:latin typeface="Aptos"/>
                <a:ea typeface="Aptos"/>
                <a:cs typeface="Aptos"/>
              </a:rPr>
              <a:t>PRODUCT 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D6913-F069-4DF7-BF44-4C5B5854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rPr>
              <a:t>mobile-ops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9BDB1-A842-4465-BE51-F362AD24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7DED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7DED1"/>
                </a:solidFill>
                <a:latin typeface="Aptos Display"/>
                <a:ea typeface="Aptos Display"/>
                <a:cs typeface="Aptos Display"/>
              </a:rPr>
              <a:t>Codex-native operations workspace for Flutter and Firebase apps.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B67B45-DEFC-446B-9B0C-7C0B425E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628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D1C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D1C8"/>
                </a:solidFill>
                <a:latin typeface="Aptos"/>
                <a:ea typeface="Aptos"/>
                <a:cs typeface="Aptos"/>
              </a:rPr>
              <a:t>Not another package. A repo that tells Codex how to inspect, run, interpret, patch, and report release readiness.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C0616-3909-4214-B2A1-F292EC4B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66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5E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B248C9-31DC-47EB-B94A-FA32E096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7635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F2ED6-B3EF-47C8-B7BB-9F481601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52600"/>
            <a:ext cx="80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FC8B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FC8BD"/>
                </a:solidFill>
                <a:latin typeface="Aptos"/>
                <a:ea typeface="Aptos"/>
                <a:cs typeface="Aptos"/>
              </a:rPr>
              <a:t>MVP workflows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437E76-206A-4067-B50F-2D2E5639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066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859424-AB23-4BFE-A019-89BAA5A7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27635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rPr>
              <a:t>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BEB38F-118C-4C8F-B3C3-2F0060C3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52600"/>
            <a:ext cx="80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FC8B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FC8BD"/>
                </a:solidFill>
                <a:latin typeface="Aptos"/>
                <a:ea typeface="Aptos"/>
                <a:cs typeface="Aptos"/>
              </a:rPr>
              <a:t>signal scripts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86133A-3A5E-4253-B2FE-36495B41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066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A60E5F-94B9-4716-B3C6-8164EA12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27635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D00DB7-2E7A-4264-B102-0B6B44F4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752600"/>
            <a:ext cx="80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FC8B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FC8BD"/>
                </a:solidFill>
                <a:latin typeface="Aptos"/>
                <a:ea typeface="Aptos"/>
                <a:cs typeface="Aptos"/>
              </a:rPr>
              <a:t>report templates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40C23-6457-475D-A54B-26C26123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066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DBB119-1B67-4B29-AF19-A1EB0870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27635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5B288E-262E-4D8D-843D-FBD56FFC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752600"/>
            <a:ext cx="80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FC8B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FC8BD"/>
                </a:solidFill>
                <a:latin typeface="Aptos"/>
                <a:ea typeface="Aptos"/>
                <a:cs typeface="Aptos"/>
              </a:rPr>
              <a:t>risk profiles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7B42DD-A62B-4DFA-8658-E82F11F0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09900"/>
            <a:ext cx="31623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425"/>
          </a:solidFill>
          <a:ln xmlns:a="http://schemas.openxmlformats.org/drawingml/2006/main" w="9525">
            <a:solidFill>
              <a:srgbClr val="3D4546"/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E1D7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8E1D7"/>
                </a:solidFill>
                <a:latin typeface="Aptos Mono"/>
                <a:ea typeface="Aptos Mono"/>
                <a:cs typeface="Aptos Mono"/>
              </a:rPr>
              <a:t>/mobile-ops firebase-audit</a:t>
            </a:r>
          </a:p>
          <a:p xmlns:a="http://schemas.openxmlformats.org/drawingml/2006/main">
            <a:pPr algn="l">
              <a:defRPr sz="1350" b="0">
                <a:solidFill>
                  <a:srgbClr val="E8E1D7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8E1D7"/>
                </a:solidFill>
                <a:latin typeface="Aptos Mono"/>
                <a:ea typeface="Aptos Mono"/>
                <a:cs typeface="Aptos Mono"/>
              </a:rPr>
              <a:t>/mobile-ops android-release</a:t>
            </a:r>
          </a:p>
          <a:p xmlns:a="http://schemas.openxmlformats.org/drawingml/2006/main">
            <a:pPr algn="l">
              <a:defRPr sz="1350" b="0">
                <a:solidFill>
                  <a:srgbClr val="E8E1D7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8E1D7"/>
                </a:solidFill>
                <a:latin typeface="Aptos Mono"/>
                <a:ea typeface="Aptos Mono"/>
                <a:cs typeface="Aptos Mono"/>
              </a:rPr>
              <a:t>/mobile-ops ios-release</a:t>
            </a:r>
          </a:p>
          <a:p xmlns:a="http://schemas.openxmlformats.org/drawingml/2006/main">
            <a:pPr algn="l">
              <a:defRPr sz="1350" b="0">
                <a:solidFill>
                  <a:srgbClr val="E8E1D7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8E1D7"/>
                </a:solidFill>
                <a:latin typeface="Aptos Mono"/>
                <a:ea typeface="Aptos Mono"/>
                <a:cs typeface="Aptos Mono"/>
              </a:rPr>
              <a:t>/mobile-ops aso-review</a:t>
            </a:r>
          </a:p>
          <a:p xmlns:a="http://schemas.openxmlformats.org/drawingml/2006/main">
            <a:pPr algn="l">
              <a:defRPr sz="1350" b="0">
                <a:solidFill>
                  <a:srgbClr val="E8E1D7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8E1D7"/>
                </a:solidFill>
                <a:latin typeface="Aptos Mono"/>
                <a:ea typeface="Aptos Mono"/>
                <a:cs typeface="Aptos Mono"/>
              </a:rPr>
              <a:t>/mobile-ops privacy-check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7161C5-1E68-4ED8-8486-34DDBAC0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B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2FDF39-A84F-433D-878F-EDDC997E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D1C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8D1C8"/>
                </a:solidFill>
                <a:latin typeface="Aptos"/>
                <a:ea typeface="Aptos"/>
                <a:cs typeface="Aptos"/>
              </a:rPr>
              <a:t>First target: audit Flutter + Firebase projects before release across security, release, ASO, and store metadata.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08E58A-05D1-4C29-A10E-7888C1AC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9810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B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BCFDA7-74B0-49BF-A9D0-4EBB12D4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FC8B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FC8BD"/>
                </a:solidFill>
                <a:latin typeface="Aptos"/>
                <a:ea typeface="Aptos"/>
                <a:cs typeface="Aptos"/>
              </a:rPr>
              <a:t>mobile-ops | Codex-native operations workspace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5DD79A-F625-4DF8-AB69-7099652A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FC8BD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CFC8BD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333442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2DF69E-DA6A-4053-AC91-FFB8C934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Problem-marker">
            <a:extLst xmlns:a="http://schemas.openxmlformats.org/drawingml/2006/main">
              <a:ext uri="{FF2B5EF4-FFF2-40B4-BE49-F238E27FC236}">
                <a16:creationId xmlns:a16="http://schemas.microsoft.com/office/drawing/2014/main" id="{8BF3486E-7C3D-40F3-8500-123C5235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5E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Problem-label">
            <a:extLst xmlns:a="http://schemas.openxmlformats.org/drawingml/2006/main">
              <a:ext uri="{FF2B5EF4-FFF2-40B4-BE49-F238E27FC236}">
                <a16:creationId xmlns:a16="http://schemas.microsoft.com/office/drawing/2014/main" id="{BF5AC7DF-E669-4B13-B481-F337E8F0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0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706B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B00BD-0828-4C64-AF8C-F858EBDA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81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Release readiness fails because evidence lives in too many places.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520FC9-CB72-4A40-BDB1-B242FF9A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704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C3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C3033"/>
                </a:solidFill>
                <a:latin typeface="Aptos"/>
                <a:ea typeface="Aptos"/>
                <a:cs typeface="Aptos"/>
              </a:rPr>
              <a:t>Codex can help, but only if the repository explains what to inspect, which commands matter, and how to turn raw output into release risk.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FBD89-4FAA-4236-B6C2-76912069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3B516-3220-434C-979D-5C3A1A13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1562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CFC3B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BBBAD-A96E-4427-88B7-85B9FE9D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052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F6B77D-9356-4D95-98C2-87A8C639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06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8706B"/>
                </a:solidFill>
                <a:latin typeface="Aptos Mono"/>
                <a:ea typeface="Aptos Mono"/>
                <a:cs typeface="Aptos Mono"/>
              </a:rPr>
              <a:t>pubspec.yaml</a:t>
            </a:r>
          </a:p>
          <a:p xmlns:a="http://schemas.openxmlformats.org/drawingml/2006/main">
            <a:pPr algn="l">
              <a:defRPr sz="1050" b="0">
                <a:solidFill>
                  <a:srgbClr val="68706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8706B"/>
                </a:solidFill>
                <a:latin typeface="Aptos Mono"/>
                <a:ea typeface="Aptos Mono"/>
                <a:cs typeface="Aptos Mono"/>
              </a:rPr>
              <a:t>lib/</a:t>
            </a:r>
          </a:p>
          <a:p xmlns:a="http://schemas.openxmlformats.org/drawingml/2006/main">
            <a:pPr algn="l">
              <a:defRPr sz="1050" b="0">
                <a:solidFill>
                  <a:srgbClr val="68706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8706B"/>
                </a:solidFill>
                <a:latin typeface="Aptos Mono"/>
                <a:ea typeface="Aptos Mono"/>
                <a:cs typeface="Aptos Mono"/>
              </a:rPr>
              <a:t>platform channels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16927D-8DBE-4A1D-BF21-49E9370D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956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8FD71B-46A1-4A27-8197-E497C70B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1562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CFC3B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EC4956-E32A-4BA2-B5F5-59AB4A9B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813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Firebase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5F3F7-1477-4B5B-AFF3-A15D9EC5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46710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06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8706B"/>
                </a:solidFill>
                <a:latin typeface="Aptos Mono"/>
                <a:ea typeface="Aptos Mono"/>
                <a:cs typeface="Aptos Mono"/>
              </a:rPr>
              <a:t>rules</a:t>
            </a:r>
          </a:p>
          <a:p xmlns:a="http://schemas.openxmlformats.org/drawingml/2006/main">
            <a:pPr algn="l">
              <a:defRPr sz="1050" b="0">
                <a:solidFill>
                  <a:srgbClr val="68706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8706B"/>
                </a:solidFill>
                <a:latin typeface="Aptos Mono"/>
                <a:ea typeface="Aptos Mono"/>
                <a:cs typeface="Aptos Mono"/>
              </a:rPr>
              <a:t>App Check</a:t>
            </a:r>
          </a:p>
          <a:p xmlns:a="http://schemas.openxmlformats.org/drawingml/2006/main">
            <a:pPr algn="l">
              <a:defRPr sz="1050" b="0">
                <a:solidFill>
                  <a:srgbClr val="68706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8706B"/>
                </a:solidFill>
                <a:latin typeface="Aptos Mono"/>
                <a:ea typeface="Aptos Mono"/>
                <a:cs typeface="Aptos Mono"/>
              </a:rPr>
              <a:t>options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F8BFB7-4338-4629-B3AC-B8DEE953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385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D62278-70B3-4CA6-A3F4-79628CAE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90900"/>
            <a:ext cx="1562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CFC3B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75FE5D-ECB5-4951-8844-79987270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5242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Stores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3A08D0-EC04-4288-807C-FF80E40A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1000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06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8706B"/>
                </a:solidFill>
                <a:latin typeface="Aptos Mono"/>
                <a:ea typeface="Aptos Mono"/>
                <a:cs typeface="Aptos Mono"/>
              </a:rPr>
              <a:t>metadata</a:t>
            </a:r>
          </a:p>
          <a:p xmlns:a="http://schemas.openxmlformats.org/drawingml/2006/main">
            <a:pPr algn="l">
              <a:defRPr sz="1050" b="0">
                <a:solidFill>
                  <a:srgbClr val="68706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8706B"/>
                </a:solidFill>
                <a:latin typeface="Aptos Mono"/>
                <a:ea typeface="Aptos Mono"/>
                <a:cs typeface="Aptos Mono"/>
              </a:rPr>
              <a:t>privacy labels</a:t>
            </a:r>
          </a:p>
          <a:p xmlns:a="http://schemas.openxmlformats.org/drawingml/2006/main">
            <a:pPr algn="l">
              <a:defRPr sz="1050" b="0">
                <a:solidFill>
                  <a:srgbClr val="68706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8706B"/>
                </a:solidFill>
                <a:latin typeface="Aptos Mono"/>
                <a:ea typeface="Aptos Mono"/>
                <a:cs typeface="Aptos Mono"/>
              </a:rPr>
              <a:t>release notes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09BC39-B9FB-4075-9302-23BB2540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956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5E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8F77A2-A172-4D56-85B0-E9B05D06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48000"/>
            <a:ext cx="1562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CFC3B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888A31-F57B-4AAD-8299-8D60B71F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813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CI &amp; signing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026D42-B709-46B7-99E1-DD07200A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6710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06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8706B"/>
                </a:solidFill>
                <a:latin typeface="Aptos Mono"/>
                <a:ea typeface="Aptos Mono"/>
                <a:cs typeface="Aptos Mono"/>
              </a:rPr>
              <a:t>secrets</a:t>
            </a:r>
          </a:p>
          <a:p xmlns:a="http://schemas.openxmlformats.org/drawingml/2006/main">
            <a:pPr algn="l">
              <a:defRPr sz="1050" b="0">
                <a:solidFill>
                  <a:srgbClr val="68706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8706B"/>
                </a:solidFill>
                <a:latin typeface="Aptos Mono"/>
                <a:ea typeface="Aptos Mono"/>
                <a:cs typeface="Aptos Mono"/>
              </a:rPr>
              <a:t>keystores</a:t>
            </a:r>
          </a:p>
          <a:p xmlns:a="http://schemas.openxmlformats.org/drawingml/2006/main">
            <a:pPr algn="l">
              <a:defRPr sz="1050" b="0">
                <a:solidFill>
                  <a:srgbClr val="68706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8706B"/>
                </a:solidFill>
                <a:latin typeface="Aptos Mono"/>
                <a:ea typeface="Aptos Mono"/>
                <a:cs typeface="Aptos Mono"/>
              </a:rPr>
              <a:t>provisioning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D64B16-C749-481A-8C7B-5FA4B160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385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9B6CAC-F4CF-4A23-B99A-CB5E0AD3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90900"/>
            <a:ext cx="1562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CFC3B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F35CB9-73F9-4A17-B940-01359E7A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5242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Crashes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CA3E42-AD84-40ED-B865-3E881C1A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81000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06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8706B"/>
                </a:solidFill>
                <a:latin typeface="Aptos Mono"/>
                <a:ea typeface="Aptos Mono"/>
                <a:cs typeface="Aptos Mono"/>
              </a:rPr>
              <a:t>Crashlytics</a:t>
            </a:r>
          </a:p>
          <a:p xmlns:a="http://schemas.openxmlformats.org/drawingml/2006/main">
            <a:pPr algn="l">
              <a:defRPr sz="1050" b="0">
                <a:solidFill>
                  <a:srgbClr val="68706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8706B"/>
                </a:solidFill>
                <a:latin typeface="Aptos Mono"/>
                <a:ea typeface="Aptos Mono"/>
                <a:cs typeface="Aptos Mono"/>
              </a:rPr>
              <a:t>logcat</a:t>
            </a:r>
          </a:p>
          <a:p xmlns:a="http://schemas.openxmlformats.org/drawingml/2006/main">
            <a:pPr algn="l">
              <a:defRPr sz="1050" b="0">
                <a:solidFill>
                  <a:srgbClr val="68706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8706B"/>
                </a:solidFill>
                <a:latin typeface="Aptos Mono"/>
                <a:ea typeface="Aptos Mono"/>
                <a:cs typeface="Aptos Mono"/>
              </a:rPr>
              <a:t>iOS reports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B31806-E14A-4161-BE41-334174E1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511" y="3786188"/>
            <a:ext cx="68992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9AE4D2-5D94-46C2-879D-74E5956E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609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FC3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2A85E6-2B74-4D5C-9DA0-DE7FFEE9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687" y="3814763"/>
            <a:ext cx="62282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2272D1-E0AF-4151-B08C-7D184F79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9243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FC3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6E6660-0FD3-4099-BF0E-08BE3881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687" y="3814763"/>
            <a:ext cx="62282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0AA94C-5C5D-4360-A454-0CEF40F6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609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FC3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691524-0B8A-4A66-9CCD-B26BCC0D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210" y="3824288"/>
            <a:ext cx="32478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1A106C-C61A-4506-B8AB-B43CFCDD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9433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FC3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7ED639-296B-4F31-9593-948A9B25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16255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The release answer is cross-file, cross-platform, and cross-store.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5D8D7B-D958-41A9-8D72-22CE0D3C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9810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E52A90-E225-4D5B-B13C-FC27E786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71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716B"/>
                </a:solidFill>
                <a:latin typeface="Aptos"/>
                <a:ea typeface="Aptos"/>
                <a:cs typeface="Aptos"/>
              </a:rPr>
              <a:t>mobile-ops | Codex-native operations workspace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E3D210-03AE-45BE-A33D-BBAA42CC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E716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E716B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3738301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A65DB4-22CF-440E-AF13-7AE9641D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Operating model-marker">
            <a:extLst xmlns:a="http://schemas.openxmlformats.org/drawingml/2006/main">
              <a:ext uri="{FF2B5EF4-FFF2-40B4-BE49-F238E27FC236}">
                <a16:creationId xmlns:a16="http://schemas.microsoft.com/office/drawing/2014/main" id="{1673AB1D-F73B-40CB-8FB2-4B6258C5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5E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Operating model-label">
            <a:extLst xmlns:a="http://schemas.openxmlformats.org/drawingml/2006/main">
              <a:ext uri="{FF2B5EF4-FFF2-40B4-BE49-F238E27FC236}">
                <a16:creationId xmlns:a16="http://schemas.microsoft.com/office/drawing/2014/main" id="{A52E637E-BC86-42A9-84A8-38EDE9DB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0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706B"/>
                </a:solidFill>
                <a:latin typeface="Aptos"/>
                <a:ea typeface="Aptos"/>
                <a:cs typeface="Aptos"/>
              </a:rPr>
              <a:t>OPERATING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92693A-2FF1-487F-B819-8DEC8EB3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The product is a three-layer system: instructions, signals, reports.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CB2F38-A91F-4A58-8F0E-27BA8A7D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431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2F2E2-0C7C-4A78-89C6-0422E5DB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288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423263-F7B0-4FF0-9370-227629D1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266950"/>
            <a:ext cx="7048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CFC3B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0C8F7-3AA5-45FD-857E-4342721B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3812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Instructions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0ADA2C-149E-4F13-8337-A692C770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00300"/>
            <a:ext cx="428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C3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C3033"/>
                </a:solidFill>
                <a:latin typeface="Aptos"/>
                <a:ea typeface="Aptos"/>
                <a:cs typeface="Aptos"/>
              </a:rPr>
              <a:t>AGENTS.md + workflows tell Codex where to look and what good output means.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7D904F-9C30-436A-8206-AC084047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09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AFA7E8-C669-45B8-82A8-65188972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956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BD5219-7E5F-45A7-BEBC-ECD00145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333750"/>
            <a:ext cx="7048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CFC3B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1C6174-25A7-4004-A56F-BDC2654C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480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Signals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976274-C151-4E06-ACD5-72B3DB0E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67100"/>
            <a:ext cx="428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C3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C3033"/>
                </a:solidFill>
                <a:latin typeface="Aptos"/>
                <a:ea typeface="Aptos"/>
                <a:cs typeface="Aptos"/>
              </a:rPr>
              <a:t>Shell scripts collect concrete release/security/privacy evidence from the app repo.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3E478D-7913-4F7E-800E-3FD0762D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76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5E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14CFC7-F696-4FD0-8EDD-4D1244A9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624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09DE56-5C54-4CF5-9BCE-B52CD548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400550"/>
            <a:ext cx="7048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CFC3B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4F2D6D-7AD9-46E5-9A07-7A98E481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5148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Reports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BDEE1B-3C0D-4DE3-BC6F-AB83D8CC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33900"/>
            <a:ext cx="428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C3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C3033"/>
                </a:solidFill>
                <a:latin typeface="Aptos"/>
                <a:ea typeface="Aptos"/>
                <a:cs typeface="Aptos"/>
              </a:rPr>
              <a:t>Templates force consistent blockers, risks, patches, and validation steps.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3DB20A-7AB9-42CD-95A8-0F03F46D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860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3478FF-3A4A-4620-BCDF-652E4BB4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95550"/>
            <a:ext cx="19621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C3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C3033"/>
                </a:solidFill>
                <a:latin typeface="Aptos"/>
                <a:ea typeface="Aptos"/>
                <a:cs typeface="Aptos"/>
              </a:rPr>
              <a:t>This keeps intelligence in Codex and keeps the repo simple: markdown for judgment, bash for evidence, templates for repeatability.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98A13A-1F33-4478-AE8B-FB766B81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5720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AE22F3-A778-42CB-9AA3-D97A0080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76250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No custom agent runtime required.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2264CB-2D8D-4719-866B-F142FC83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9810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6AB2B5-FE57-4372-BC5D-FF4C7A67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71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716B"/>
                </a:solidFill>
                <a:latin typeface="Aptos"/>
                <a:ea typeface="Aptos"/>
                <a:cs typeface="Aptos"/>
              </a:rPr>
              <a:t>mobile-ops | Codex-native operations workspace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0E5945-1B30-4335-93CB-2FE8A05B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E716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E716B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99273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01E72B-4154-4D2B-B422-5A742CC4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VP scope-marker">
            <a:extLst xmlns:a="http://schemas.openxmlformats.org/drawingml/2006/main">
              <a:ext uri="{FF2B5EF4-FFF2-40B4-BE49-F238E27FC236}">
                <a16:creationId xmlns:a16="http://schemas.microsoft.com/office/drawing/2014/main" id="{F6A8602B-FCBC-43D9-94BD-C6274A40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5E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VP scope-label">
            <a:extLst xmlns:a="http://schemas.openxmlformats.org/drawingml/2006/main">
              <a:ext uri="{FF2B5EF4-FFF2-40B4-BE49-F238E27FC236}">
                <a16:creationId xmlns:a16="http://schemas.microsoft.com/office/drawing/2014/main" id="{BA15B1E2-5799-4FF6-AFE5-FD4BD46D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0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706B"/>
                </a:solidFill>
                <a:latin typeface="Aptos"/>
                <a:ea typeface="Aptos"/>
                <a:cs typeface="Aptos"/>
              </a:rPr>
              <a:t>MVP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4DD9B-E6EA-43B4-858C-CCF3BABE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Five workflows answer the release questions teams ask every week.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1A802-BAA2-4478-8533-71B0A877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0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706B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FE37A-18C6-40CC-9E4E-8EDFD7CA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621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0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706B"/>
                </a:solidFill>
                <a:latin typeface="Aptos"/>
                <a:ea typeface="Aptos"/>
                <a:cs typeface="Aptos"/>
              </a:rPr>
              <a:t>release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3A407-CD5D-40B6-90DB-9AD6915F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586C4-6493-4BEF-9808-B2F051A2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114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3FCD77-BD88-4C6D-A5AA-CD982BF1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Firebase audit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2E56F3-24E3-4B2F-B7FF-55D855BA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66975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C3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C3033"/>
                </a:solidFill>
                <a:latin typeface="Aptos"/>
                <a:ea typeface="Aptos"/>
                <a:cs typeface="Aptos"/>
              </a:rPr>
              <a:t>Are config, rules, App Check, and secrets safe enough for production?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10BFE3-33E8-46C5-A715-C029C010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3D342E-27B9-418D-8ECA-A04BAFD0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114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58BDE1-2ACF-470C-B63F-DB25C6E7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Android release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DF83C3-A75D-4BA4-A87F-0E11885C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52775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C3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C3033"/>
                </a:solidFill>
                <a:latin typeface="Aptos"/>
                <a:ea typeface="Aptos"/>
                <a:cs typeface="Aptos"/>
              </a:rPr>
              <a:t>Can we ship an app bundle with sane signing, SDK, version, and manifest state?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DA5265-998C-4FB0-8521-11F7ED05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576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677CAF-4B43-4A31-A6BA-3D2165CF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114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5E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D3DD4B-13FF-4FD3-8945-9F576F8D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290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iOS release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DC2605-97D4-4E9C-A581-3D493B89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38575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C3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C3033"/>
                </a:solidFill>
                <a:latin typeface="Aptos"/>
                <a:ea typeface="Aptos"/>
                <a:cs typeface="Aptos"/>
              </a:rPr>
              <a:t>Can we archive without hidden Info.plist, signing, or privacy permission surprises?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95AA5C-618B-4B7C-B2C8-4C4AC2C0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D42637-E80E-4ADD-BAED-013DEBF2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33900"/>
            <a:ext cx="114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B94DFC-0655-494F-B54A-8F145417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148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ASO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FFC6F3-2564-4B81-8363-8A5ECA57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24375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C3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C3033"/>
                </a:solidFill>
                <a:latin typeface="Aptos"/>
                <a:ea typeface="Aptos"/>
                <a:cs typeface="Aptos"/>
              </a:rPr>
              <a:t>Does metadata explain the app, match the product, and avoid unsupported claims?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67BBCC-7840-4A96-9ED1-3C2FEC62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92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2C9589-E86C-40D4-BB43-175392BE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114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A4066B-C3E8-423C-9796-2A308926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006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Privacy check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7D48F9-0E23-4A28-8E70-4CF9CAA6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10175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C3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C3033"/>
                </a:solidFill>
                <a:latin typeface="Aptos"/>
                <a:ea typeface="Aptos"/>
                <a:cs typeface="Aptos"/>
              </a:rPr>
              <a:t>Do SDKs, permissions, privacy policy, and store labels tell the same story?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6CFA85-1417-41AB-A533-640F6A3E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62F084-AA6C-4A4E-8B3B-FEF23F2F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9810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EA8A7F-1066-4D88-B3D7-864C4ECD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71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716B"/>
                </a:solidFill>
                <a:latin typeface="Aptos"/>
                <a:ea typeface="Aptos"/>
                <a:cs typeface="Aptos"/>
              </a:rPr>
              <a:t>mobile-ops | Codex-native operations workspace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5EE8BC-28E9-42BD-ACBD-37652BC2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E716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E716B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4649680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0A9417-EC50-4357-A8F4-9E3566B0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Repository interface-marker">
            <a:extLst xmlns:a="http://schemas.openxmlformats.org/drawingml/2006/main">
              <a:ext uri="{FF2B5EF4-FFF2-40B4-BE49-F238E27FC236}">
                <a16:creationId xmlns:a16="http://schemas.microsoft.com/office/drawing/2014/main" id="{CEF47170-A9FF-4219-A6ED-04B13193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5E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Repository interface-label">
            <a:extLst xmlns:a="http://schemas.openxmlformats.org/drawingml/2006/main">
              <a:ext uri="{FF2B5EF4-FFF2-40B4-BE49-F238E27FC236}">
                <a16:creationId xmlns:a16="http://schemas.microsoft.com/office/drawing/2014/main" id="{5A282152-D795-435E-A320-CDD08FEF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0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706B"/>
                </a:solidFill>
                <a:latin typeface="Aptos"/>
                <a:ea typeface="Aptos"/>
                <a:cs typeface="Aptos"/>
              </a:rPr>
              <a:t>REPOSITORY INTERFACE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CA6640-326A-454E-8664-AB8F28AB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The repo structure is the product interface Codex can follow.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3012A5-308F-43C1-B93C-76A3317D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C3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C3033"/>
                </a:solidFill>
                <a:latin typeface="Aptos"/>
                <a:ea typeface="Aptos"/>
                <a:cs typeface="Aptos"/>
              </a:rPr>
              <a:t>Every folder exists because it improves one of three jobs: instruct, collect, or report.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4772F-92EE-46C0-943F-82008396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813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417"/>
                </a:solidFill>
                <a:latin typeface="Aptos Mono"/>
                <a:ea typeface="Aptos Mono"/>
                <a:cs typeface="Aptos Mono"/>
              </a:defRPr>
            </a:pPr>
            <a:r>
              <a:rPr sz="1725" b="1">
                <a:solidFill>
                  <a:srgbClr val="101417"/>
                </a:solidFill>
                <a:latin typeface="Aptos Mono"/>
                <a:ea typeface="Aptos Mono"/>
                <a:cs typeface="Aptos Mono"/>
              </a:rPr>
              <a:t>mobile-ops/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3E82A-E8D0-450E-B854-6BF72EEB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00400"/>
            <a:ext cx="19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9C9B59-3076-46FA-B6D2-59C34710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99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38B7AC-DD72-4463-A55F-CAB6370D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81300"/>
            <a:ext cx="133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AC23CC-DA35-44D4-96E7-2A44A9A9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781300"/>
            <a:ext cx="285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CFC3B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2CA85F-FE38-4BB1-80FE-06789CA8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8765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417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01417"/>
                </a:solidFill>
                <a:latin typeface="Aptos Mono"/>
                <a:ea typeface="Aptos Mono"/>
                <a:cs typeface="Aptos Mono"/>
              </a:rPr>
              <a:t>AGENTS.md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90481D-9269-44D1-BACD-D842616B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0861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0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06B"/>
                </a:solidFill>
                <a:latin typeface="Aptos"/>
                <a:ea typeface="Aptos"/>
                <a:cs typeface="Aptos"/>
              </a:rPr>
              <a:t>repo-specific operating rules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ACC03B-F6E2-470D-8EAA-D19BEEF9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576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FEBAFE-3560-4724-A40B-E351EFAA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29000"/>
            <a:ext cx="133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1DE3A3-F137-4325-B1B2-679AC1D8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429000"/>
            <a:ext cx="285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CFC3B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9AF85A-737C-4047-966C-7CF04615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5242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417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01417"/>
                </a:solidFill>
                <a:latin typeface="Aptos Mono"/>
                <a:ea typeface="Aptos Mono"/>
                <a:cs typeface="Aptos Mono"/>
              </a:rPr>
              <a:t>workflows/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182C24-D020-49A3-93F0-C754CDFE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7338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0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06B"/>
                </a:solidFill>
                <a:latin typeface="Aptos"/>
                <a:ea typeface="Aptos"/>
                <a:cs typeface="Aptos"/>
              </a:rPr>
              <a:t>step-by-step audit playbooks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961580-1895-4F55-BF53-8A242DE6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053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ADED25-6FD0-46F9-8FBB-3AE53B43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76700"/>
            <a:ext cx="133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5E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E862B9-7962-43EC-8DFF-FAD5F056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076700"/>
            <a:ext cx="285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CFC3B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823A07-1A0E-4A40-8006-19F897AF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171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417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01417"/>
                </a:solidFill>
                <a:latin typeface="Aptos Mono"/>
                <a:ea typeface="Aptos Mono"/>
                <a:cs typeface="Aptos Mono"/>
              </a:rPr>
              <a:t>scripts/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E2FE27-581F-4BED-8EC7-172E688A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3815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0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06B"/>
                </a:solidFill>
                <a:latin typeface="Aptos"/>
                <a:ea typeface="Aptos"/>
                <a:cs typeface="Aptos"/>
              </a:rPr>
              <a:t>signal collectors, not product logic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53CE20-3D18-44F8-89A9-4AF96AA2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099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290764-53B2-4DCD-861E-1D2C40FA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81300"/>
            <a:ext cx="133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6870DF-5290-43C6-945A-72E75750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81300"/>
            <a:ext cx="285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CFC3B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A35E1C-8AD8-469A-A3A6-CD6CA09A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765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417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01417"/>
                </a:solidFill>
                <a:latin typeface="Aptos Mono"/>
                <a:ea typeface="Aptos Mono"/>
                <a:cs typeface="Aptos Mono"/>
              </a:rPr>
              <a:t>reports/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1CDC98-42E4-411F-90AC-EF7D7427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861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0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06B"/>
                </a:solidFill>
                <a:latin typeface="Aptos"/>
                <a:ea typeface="Aptos"/>
                <a:cs typeface="Aptos"/>
              </a:rPr>
              <a:t>repeatable risk output shapes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951BB2-CBD3-420D-93C2-95037D20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576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400A24-8F5F-4F7D-86DB-E417A514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29000"/>
            <a:ext cx="133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838D76-4397-473D-86E1-5A15C6F3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29000"/>
            <a:ext cx="285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CFC3B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81EF38-1A40-4082-A3E0-8E8EAD44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242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417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01417"/>
                </a:solidFill>
                <a:latin typeface="Aptos Mono"/>
                <a:ea typeface="Aptos Mono"/>
                <a:cs typeface="Aptos Mono"/>
              </a:rPr>
              <a:t>profiles/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D7D3C0-D1B5-4970-84E9-E20AAA25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338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0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06B"/>
                </a:solidFill>
                <a:latin typeface="Aptos"/>
                <a:ea typeface="Aptos"/>
                <a:cs typeface="Aptos"/>
              </a:rPr>
              <a:t>bounded risk posture variants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38FE34-A270-4CF5-99E8-884F1DA4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053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A83615-B6A0-4307-9174-9D8F5C5B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76700"/>
            <a:ext cx="133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C6B242-51A5-46CF-AA91-3115932F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76700"/>
            <a:ext cx="285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CFC3B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B744BC-FB8C-4E6A-BBBB-768FC011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71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417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01417"/>
                </a:solidFill>
                <a:latin typeface="Aptos Mono"/>
                <a:ea typeface="Aptos Mono"/>
                <a:cs typeface="Aptos Mono"/>
              </a:rPr>
              <a:t>prompts/ + store/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B5B579-4581-4319-AAEA-39D2C39E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815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0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06B"/>
                </a:solidFill>
                <a:latin typeface="Aptos"/>
                <a:ea typeface="Aptos"/>
                <a:cs typeface="Aptos"/>
              </a:rPr>
              <a:t>metadata standard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67FB5E-102F-4DF0-B828-2E72E502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9810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B8ABC8-09DF-4700-B9E5-4A0FEF94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71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716B"/>
                </a:solidFill>
                <a:latin typeface="Aptos"/>
                <a:ea typeface="Aptos"/>
                <a:cs typeface="Aptos"/>
              </a:rPr>
              <a:t>mobile-ops | Codex-native operations workspace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2908DA-97E5-4F65-A415-68FFE96E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E716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E716B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9792597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85200A-6CF2-4EFB-BD6B-72D59D3F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Execution loop-marker">
            <a:extLst xmlns:a="http://schemas.openxmlformats.org/drawingml/2006/main">
              <a:ext uri="{FF2B5EF4-FFF2-40B4-BE49-F238E27FC236}">
                <a16:creationId xmlns:a16="http://schemas.microsoft.com/office/drawing/2014/main" id="{1FD61FA4-8851-4939-817E-7470FCCD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5E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Execution loop-label">
            <a:extLst xmlns:a="http://schemas.openxmlformats.org/drawingml/2006/main">
              <a:ext uri="{FF2B5EF4-FFF2-40B4-BE49-F238E27FC236}">
                <a16:creationId xmlns:a16="http://schemas.microsoft.com/office/drawing/2014/main" id="{B7602B79-BA9A-4DEE-93B7-E0D750BB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0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706B"/>
                </a:solidFill>
                <a:latin typeface="Aptos"/>
                <a:ea typeface="Aptos"/>
                <a:cs typeface="Aptos"/>
              </a:rPr>
              <a:t>EXECUTION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205110-D474-4E37-8AC2-96FD7CB9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Scripts collect evidence; Codex interprets risk and proposes patches.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210C14-BBD2-4EC7-964B-1F758379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1676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895848-E4A1-4E23-93EC-F64ACDAD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180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CFC3B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0E118-B200-43BC-9007-9F92F603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813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B742BE-56A1-44FD-9716-19A02B63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43300"/>
            <a:ext cx="142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6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68706B"/>
                </a:solidFill>
                <a:latin typeface="Aptos Mono"/>
                <a:ea typeface="Aptos Mono"/>
                <a:cs typeface="Aptos Mono"/>
              </a:rPr>
              <a:t>AGENTS.md</a:t>
            </a:r>
          </a:p>
          <a:p xmlns:a="http://schemas.openxmlformats.org/drawingml/2006/main">
            <a:pPr algn="l">
              <a:defRPr sz="1125" b="0">
                <a:solidFill>
                  <a:srgbClr val="68706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68706B"/>
                </a:solidFill>
                <a:latin typeface="Aptos Mono"/>
                <a:ea typeface="Aptos Mono"/>
                <a:cs typeface="Aptos Mono"/>
              </a:rPr>
              <a:t>workflow.md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849CCA-335C-4728-A6CE-920A7248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19400"/>
            <a:ext cx="1676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5E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5E4265-3F65-440C-B0D9-A4FEBF3F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90850"/>
            <a:ext cx="180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CFC3B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7F8A9-2E4B-4901-8612-F04A21C0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813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977512-19F9-4B3E-948C-1E097E87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43300"/>
            <a:ext cx="142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6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68706B"/>
                </a:solidFill>
                <a:latin typeface="Aptos Mono"/>
                <a:ea typeface="Aptos Mono"/>
                <a:cs typeface="Aptos Mono"/>
              </a:rPr>
              <a:t>check scripts</a:t>
            </a:r>
          </a:p>
          <a:p xmlns:a="http://schemas.openxmlformats.org/drawingml/2006/main">
            <a:pPr algn="l">
              <a:defRPr sz="1125" b="0">
                <a:solidFill>
                  <a:srgbClr val="68706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68706B"/>
                </a:solidFill>
                <a:latin typeface="Aptos Mono"/>
                <a:ea typeface="Aptos Mono"/>
                <a:cs typeface="Aptos Mono"/>
              </a:rPr>
              <a:t>flutter commands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481D2F-05F9-4BFD-B1AF-B501BB86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19400"/>
            <a:ext cx="1676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020B36-EE5C-4735-B603-91F9EC40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90850"/>
            <a:ext cx="180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CFC3B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55B393-2999-4118-99D5-BE28DB26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813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Interpret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A49959-C445-4B97-BA37-6F604C47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43300"/>
            <a:ext cx="142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6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68706B"/>
                </a:solidFill>
                <a:latin typeface="Aptos Mono"/>
                <a:ea typeface="Aptos Mono"/>
                <a:cs typeface="Aptos Mono"/>
              </a:rPr>
              <a:t>blockers</a:t>
            </a:r>
          </a:p>
          <a:p xmlns:a="http://schemas.openxmlformats.org/drawingml/2006/main">
            <a:pPr algn="l">
              <a:defRPr sz="1125" b="0">
                <a:solidFill>
                  <a:srgbClr val="68706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68706B"/>
                </a:solidFill>
                <a:latin typeface="Aptos Mono"/>
                <a:ea typeface="Aptos Mono"/>
                <a:cs typeface="Aptos Mono"/>
              </a:rPr>
              <a:t>risk severity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0E50DC-D096-47AD-A2C1-99AB3074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1676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8353C3-B38E-466D-9E87-4695D95A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90850"/>
            <a:ext cx="180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CFC3B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630A4B-28C3-4D90-8BE9-0227C6DB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813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BD708E-4187-4590-9525-7B38375E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43300"/>
            <a:ext cx="142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6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68706B"/>
                </a:solidFill>
                <a:latin typeface="Aptos Mono"/>
                <a:ea typeface="Aptos Mono"/>
                <a:cs typeface="Aptos Mono"/>
              </a:rPr>
              <a:t>patches</a:t>
            </a:r>
          </a:p>
          <a:p xmlns:a="http://schemas.openxmlformats.org/drawingml/2006/main">
            <a:pPr algn="l">
              <a:defRPr sz="1125" b="0">
                <a:solidFill>
                  <a:srgbClr val="68706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68706B"/>
                </a:solidFill>
                <a:latin typeface="Aptos Mono"/>
                <a:ea typeface="Aptos Mono"/>
                <a:cs typeface="Aptos Mono"/>
              </a:rPr>
              <a:t>report template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562C37-397E-4601-9345-CC81DABA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528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3D65C2-F0C4-40BC-8CD0-B8566C23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052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C3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F59AB5-7ABC-41B4-BBF7-15DFD54C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528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B9A059-C52E-4E5E-AA72-4D750233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052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C3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3A17FA-761B-4102-9E19-ECA85EA9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528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27853E-2301-4E3C-822D-CE53BA67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052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C3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C43C80-B4BC-4E14-A781-141E3929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457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4D6"/>
          </a:solidFill>
          <a:ln xmlns:a="http://schemas.openxmlformats.org/drawingml/2006/main" w="9525">
            <a:solidFill>
              <a:srgbClr val="CFC3B4"/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41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01417"/>
                </a:solidFill>
                <a:latin typeface="Aptos Mono"/>
                <a:ea typeface="Aptos Mono"/>
                <a:cs typeface="Aptos Mono"/>
              </a:rPr>
              <a:t>.mobile-ops/scripts/check-secrets.sh</a:t>
            </a:r>
          </a:p>
          <a:p xmlns:a="http://schemas.openxmlformats.org/drawingml/2006/main">
            <a:pPr algn="l">
              <a:defRPr sz="1125" b="0">
                <a:solidFill>
                  <a:srgbClr val="10141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01417"/>
                </a:solidFill>
                <a:latin typeface="Aptos Mono"/>
                <a:ea typeface="Aptos Mono"/>
                <a:cs typeface="Aptos Mono"/>
              </a:rPr>
              <a:t>.mobile-ops/scripts/check-versioning.sh</a:t>
            </a:r>
          </a:p>
          <a:p xmlns:a="http://schemas.openxmlformats.org/drawingml/2006/main">
            <a:pPr algn="l">
              <a:defRPr sz="1125" b="0">
                <a:solidFill>
                  <a:srgbClr val="10141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01417"/>
                </a:solidFill>
                <a:latin typeface="Aptos Mono"/>
                <a:ea typeface="Aptos Mono"/>
                <a:cs typeface="Aptos Mono"/>
              </a:rPr>
              <a:t>.mobile-ops/scripts/check-store-metadata.sh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61187B-AB4C-420F-AC3B-19A2391D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4095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C3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C3033"/>
                </a:solidFill>
                <a:latin typeface="Aptos"/>
                <a:ea typeface="Aptos"/>
                <a:cs typeface="Aptos"/>
              </a:rPr>
              <a:t>The script output is intentionally plain. The valuable layer is the Codex judgment that turns it into release blockers, fixes, and validation.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68DC87-10D3-47EA-8781-454F4CE7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9810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BC3233-15B7-42F6-B2E9-3404BF0B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71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716B"/>
                </a:solidFill>
                <a:latin typeface="Aptos"/>
                <a:ea typeface="Aptos"/>
                <a:cs typeface="Aptos"/>
              </a:rPr>
              <a:t>mobile-ops | Codex-native operations workspace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5C3471-E000-42FF-9294-AF6ADC88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E716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E716B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180331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5411FC-3CFC-4B25-86A7-CF4B7FF1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Growth model-marker">
            <a:extLst xmlns:a="http://schemas.openxmlformats.org/drawingml/2006/main">
              <a:ext uri="{FF2B5EF4-FFF2-40B4-BE49-F238E27FC236}">
                <a16:creationId xmlns:a16="http://schemas.microsoft.com/office/drawing/2014/main" id="{EB05C3FA-2650-4864-864D-EF829800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5E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Growth model-label">
            <a:extLst xmlns:a="http://schemas.openxmlformats.org/drawingml/2006/main">
              <a:ext uri="{FF2B5EF4-FFF2-40B4-BE49-F238E27FC236}">
                <a16:creationId xmlns:a16="http://schemas.microsoft.com/office/drawing/2014/main" id="{2128C412-15DB-441A-B886-7FF6CB47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0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706B"/>
                </a:solidFill>
                <a:latin typeface="Aptos"/>
                <a:ea typeface="Aptos"/>
                <a:cs typeface="Aptos"/>
              </a:rPr>
              <a:t>GROWTH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66109-388D-4EAB-A8DF-B900E0F8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76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Expansion stays inside the thesis: better instructions, better signals, better reports.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527D4-4F61-4C1A-A55E-86DEBE14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52700"/>
            <a:ext cx="1600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75D7B4-AAE2-4C24-BA2C-B9320FD1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086100"/>
            <a:ext cx="1257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rPr>
              <a:t>mobile-ops</a:t>
            </a:r>
          </a:p>
          <a:p xmlns:a="http://schemas.openxmlformats.org/drawingml/2006/main">
            <a:pPr algn="ctr">
              <a:defRPr sz="180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rPr>
              <a:t>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96A98-7E2C-45F1-8BCA-9E966740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9560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E6F3E-8239-4888-B9AF-AEE47053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133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6A9F70-7DA8-492C-AA96-DB1A9241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71750"/>
            <a:ext cx="1885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CFC3B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828A90-3F44-4DDF-8CA5-03529DB7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051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workflows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533EE5-4CCB-4C9A-8C81-2A6E359F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9908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0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06B"/>
                </a:solidFill>
                <a:latin typeface="Aptos"/>
                <a:ea typeface="Aptos"/>
                <a:cs typeface="Aptos"/>
              </a:rPr>
              <a:t>deeper playbooks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3CE93F-C333-4608-AF8E-03CBD9A4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810000"/>
            <a:ext cx="1866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337CEA-79AE-4B0E-9381-D7B5FDDA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838700"/>
            <a:ext cx="133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5E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869897-8170-464D-B42F-86750541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38700"/>
            <a:ext cx="1885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CFC3B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CD4382-6944-47B0-ACB1-E43DEE41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9720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scripts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E23721-695F-4B27-AE3C-93ABF134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2578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0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06B"/>
                </a:solidFill>
                <a:latin typeface="Aptos"/>
                <a:ea typeface="Aptos"/>
                <a:cs typeface="Aptos"/>
              </a:rPr>
              <a:t>cleaner signals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45AE36-9BD3-4077-9F2A-C7A04AF3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1000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166A89-2D90-4BF0-B01A-2AB52388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38700"/>
            <a:ext cx="133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4FF048-A418-4C90-9B84-5FF3F1C1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838700"/>
            <a:ext cx="1885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CFC3B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7A0547-6265-4D39-B91C-2900A22B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9720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reports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029532-AEA8-423E-B4A4-955FD69F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2578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0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06B"/>
                </a:solidFill>
                <a:latin typeface="Aptos"/>
                <a:ea typeface="Aptos"/>
                <a:cs typeface="Aptos"/>
              </a:rPr>
              <a:t>consistent output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4E65EA-0FA9-4DD8-868A-7864F815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9560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9BBA03-2BFE-4A41-A2F7-BFE4DDD2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71750"/>
            <a:ext cx="133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FDE716-9120-49BE-B20A-DA551E95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71750"/>
            <a:ext cx="1885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CFC3B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58C617-9112-457E-8E03-4F90BEA6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051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profiles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847CD3-1C85-4821-9200-5B181D6B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908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0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06B"/>
                </a:solidFill>
                <a:latin typeface="Aptos"/>
                <a:ea typeface="Aptos"/>
                <a:cs typeface="Aptos"/>
              </a:rPr>
              <a:t>risk posture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A3E593-EF15-41F4-BF6A-D928AB98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AD4F4C-6A4B-4052-AA3B-498B2D87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0550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C3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C3033"/>
                </a:solidFill>
                <a:latin typeface="Aptos"/>
                <a:ea typeface="Aptos"/>
                <a:cs typeface="Aptos"/>
              </a:rPr>
              <a:t>Out of scope: Flutter scaffolding, Firebase admin panels, custom AI runtimes.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C41A65-C1CB-4417-AECF-044CB70B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9810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9A75FB-39AC-4CC9-A6A4-3696FE46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71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716B"/>
                </a:solidFill>
                <a:latin typeface="Aptos"/>
                <a:ea typeface="Aptos"/>
                <a:cs typeface="Aptos"/>
              </a:rPr>
              <a:t>mobile-ops | Codex-native operations workspace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C96D94-20DF-469B-88D8-8D58DDE9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E716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E716B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5908001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A02BBE-31E3-484B-950F-E10E51BA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Adoption path-marker">
            <a:extLst xmlns:a="http://schemas.openxmlformats.org/drawingml/2006/main">
              <a:ext uri="{FF2B5EF4-FFF2-40B4-BE49-F238E27FC236}">
                <a16:creationId xmlns:a16="http://schemas.microsoft.com/office/drawing/2014/main" id="{8206007D-F093-4D0D-A956-1B09A433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Adoption path-label">
            <a:extLst xmlns:a="http://schemas.openxmlformats.org/drawingml/2006/main">
              <a:ext uri="{FF2B5EF4-FFF2-40B4-BE49-F238E27FC236}">
                <a16:creationId xmlns:a16="http://schemas.microsoft.com/office/drawing/2014/main" id="{5757921C-03B4-42BB-BE53-546463A5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D0C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6D0C5"/>
                </a:solidFill>
                <a:latin typeface="Aptos"/>
                <a:ea typeface="Aptos"/>
                <a:cs typeface="Aptos"/>
              </a:rPr>
              <a:t>ADOPTION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3C627-D55B-41D7-8781-C61B8961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096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rPr>
              <a:t>Adoption is a repo change, not a platform migration.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41139-E4CF-42BB-943F-BF25B071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D1C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D1C8"/>
                </a:solidFill>
                <a:latin typeface="Aptos"/>
                <a:ea typeface="Aptos"/>
                <a:cs typeface="Aptos"/>
              </a:rPr>
              <a:t>Teams can add mobile-ops as `.mobile-ops`, ask Codex to follow a workflow, and get a release-focused report without replacing their mobile stack.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D5B4FC-9B76-46E1-9F46-3B6294A6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2000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5E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4B4B3-35A0-4565-9325-9B0EF226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BC3AC6-C0AE-4D35-943C-CB217C7C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671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rPr>
              <a:t>Add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72BB60-70DB-4079-878A-24FD0639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5CEC3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5CEC3"/>
                </a:solidFill>
                <a:latin typeface="Aptos Mono"/>
                <a:ea typeface="Aptos Mono"/>
                <a:cs typeface="Aptos Mono"/>
              </a:rPr>
              <a:t>git submodule add ... .mobile-ops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34FCA2-1B8A-4FA1-9BFF-B28EA4C3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38550"/>
            <a:ext cx="2000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98B36C-ED66-41C3-ABF0-F367D15C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052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8983A2-AB22-43F4-A2E3-9A3CFA7F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8671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rPr>
              <a:t>Ask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3E8F35-7C46-4AED-82DC-10F5F0CA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0055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5CEC3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5CEC3"/>
                </a:solidFill>
                <a:latin typeface="Aptos Mono"/>
                <a:ea typeface="Aptos Mono"/>
                <a:cs typeface="Aptos Mono"/>
              </a:rPr>
              <a:t>Use .mobile-ops/AGENTS.md and workflows/firebase-audit.md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B1526F-257F-4BEA-905D-1934202C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2000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69BE6C-4E4C-4DBA-950E-0DE09935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94E882-8CD4-4CF5-9F23-DF248D61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671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rPr>
              <a:t>Audit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5560B7-2AD8-45D2-B66A-A78DCC9C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0055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5CEC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5CEC3"/>
                </a:solidFill>
                <a:latin typeface="Aptos"/>
                <a:ea typeface="Aptos"/>
                <a:cs typeface="Aptos"/>
              </a:rPr>
              <a:t>Run scripts, inspect files, summarize blockers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279DB0-3E82-43DC-BC28-D7AC1C47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38550"/>
            <a:ext cx="2000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33A4EB-F52E-42F1-B61D-CF29174C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052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EBB33D-6991-4F67-9043-0688E201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8671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rPr>
              <a:t>Ship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F2F844-9772-4E2E-80FF-D87B6512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0055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5CEC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5CEC3"/>
                </a:solidFill>
                <a:latin typeface="Aptos"/>
                <a:ea typeface="Aptos"/>
                <a:cs typeface="Aptos"/>
              </a:rPr>
              <a:t>Patch risks, attach report, release with confidence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2EE9C4-B257-4C01-91F3-9611B05D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425"/>
          </a:solidFill>
          <a:ln xmlns:a="http://schemas.openxmlformats.org/drawingml/2006/main" w="9525">
            <a:solidFill>
              <a:srgbClr val="3D4546"/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E1D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E8E1D7"/>
                </a:solidFill>
                <a:latin typeface="Aptos Mono"/>
                <a:ea typeface="Aptos Mono"/>
                <a:cs typeface="Aptos Mono"/>
              </a:rPr>
              <a:t>Use .mobile-ops/AGENTS.md</a:t>
            </a:r>
          </a:p>
          <a:p xmlns:a="http://schemas.openxmlformats.org/drawingml/2006/main">
            <a:pPr algn="l">
              <a:defRPr sz="1200" b="0">
                <a:solidFill>
                  <a:srgbClr val="E8E1D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E8E1D7"/>
                </a:solidFill>
                <a:latin typeface="Aptos Mono"/>
                <a:ea typeface="Aptos Mono"/>
                <a:cs typeface="Aptos Mono"/>
              </a:rPr>
              <a:t>Follow .mobile-ops/workflows/firebase-audit.md</a:t>
            </a:r>
          </a:p>
          <a:p xmlns:a="http://schemas.openxmlformats.org/drawingml/2006/main">
            <a:pPr algn="l">
              <a:defRPr sz="1200" b="0">
                <a:solidFill>
                  <a:srgbClr val="E8E1D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E8E1D7"/>
                </a:solidFill>
                <a:latin typeface="Aptos Mono"/>
                <a:ea typeface="Aptos Mono"/>
                <a:cs typeface="Aptos Mono"/>
              </a:rPr>
              <a:t>Return release blockers first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A58019-9E03-4B85-A9DF-F1FE4BEA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34000"/>
            <a:ext cx="438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1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1C8"/>
                </a:solidFill>
                <a:latin typeface="Aptos"/>
                <a:ea typeface="Aptos"/>
                <a:cs typeface="Aptos"/>
              </a:rPr>
              <a:t>Next: publish as a template repo, dogfood on real Flutter/Firebase apps, then add workflow depth where audits repeat.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3F084C-E257-4DB0-BA4A-9E389996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9810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B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7299F3-1905-4034-995A-B2A7526D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FC8B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FC8BD"/>
                </a:solidFill>
                <a:latin typeface="Aptos"/>
                <a:ea typeface="Aptos"/>
                <a:cs typeface="Aptos"/>
              </a:rPr>
              <a:t>mobile-ops | Codex-native operations workspace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0F986E-F52F-4CF7-85B1-159E7401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FC8BD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CFC8BD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940228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2026-05-16T10:23:20.0390000Z</dcterms:created>
  <dcterms:modified xsi:type="dcterms:W3CDTF">2026-05-16T10:23:20.0390000Z</dcterms:modified>
</coreProperties>
</file>